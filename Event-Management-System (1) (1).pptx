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" name="Shape 1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7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8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9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10" name="Image 0" descr="Image 0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39214" y="7749540"/>
            <a:ext cx="1722606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731520" y="110489"/>
            <a:ext cx="13167361" cy="1809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731520" y="1920239"/>
            <a:ext cx="13167361" cy="6309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071359" y="7408545"/>
            <a:ext cx="3413761" cy="43815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 txBox="1"/>
          <p:nvPr/>
        </p:nvSpPr>
        <p:spPr>
          <a:xfrm>
            <a:off x="793790" y="1405770"/>
            <a:ext cx="6948907" cy="75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800"/>
              </a:lnSpc>
              <a:defRPr sz="460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defRPr>
            </a:lvl1pPr>
          </a:lstStyle>
          <a:p>
            <a:pPr/>
            <a:r>
              <a:t>Normalization — Concepts</a:t>
            </a:r>
          </a:p>
        </p:txBody>
      </p:sp>
      <p:sp>
        <p:nvSpPr>
          <p:cNvPr id="121" name="Text 1"/>
          <p:cNvSpPr txBox="1"/>
          <p:nvPr/>
        </p:nvSpPr>
        <p:spPr>
          <a:xfrm>
            <a:off x="793790" y="2603658"/>
            <a:ext cx="10418385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800"/>
              </a:lnSpc>
              <a:defRPr sz="170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Normalization organizes data to </a:t>
            </a:r>
            <a:r>
              <a:rPr>
                <a:solidFill>
                  <a:srgbClr val="E04F00"/>
                </a:solidFill>
              </a:rPr>
              <a:t>eliminate redundancy</a:t>
            </a:r>
            <a:r>
              <a:t> and prevent insertion, update, and deletion anomalies.</a:t>
            </a:r>
          </a:p>
        </p:txBody>
      </p:sp>
      <p:sp>
        <p:nvSpPr>
          <p:cNvPr id="122" name="Shape 2"/>
          <p:cNvSpPr/>
          <p:nvPr/>
        </p:nvSpPr>
        <p:spPr>
          <a:xfrm>
            <a:off x="793790" y="3221712"/>
            <a:ext cx="6407945" cy="1687593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3"/>
          <p:cNvSpPr txBox="1"/>
          <p:nvPr/>
        </p:nvSpPr>
        <p:spPr>
          <a:xfrm>
            <a:off x="1020603" y="3448525"/>
            <a:ext cx="541110" cy="3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900"/>
              </a:lnSpc>
              <a:defRPr sz="23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defRPr>
            </a:lvl1pPr>
          </a:lstStyle>
          <a:p>
            <a:pPr/>
            <a:r>
              <a:t>1NF</a:t>
            </a:r>
          </a:p>
        </p:txBody>
      </p:sp>
      <p:sp>
        <p:nvSpPr>
          <p:cNvPr id="124" name="Text 4"/>
          <p:cNvSpPr txBox="1"/>
          <p:nvPr/>
        </p:nvSpPr>
        <p:spPr>
          <a:xfrm>
            <a:off x="1020603" y="3956684"/>
            <a:ext cx="5954317" cy="68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/>
            <a:r>
              <a:t>Atomic values only — no repeating groups. Every field holds a single value.</a:t>
            </a:r>
          </a:p>
        </p:txBody>
      </p:sp>
      <p:sp>
        <p:nvSpPr>
          <p:cNvPr id="125" name="Shape 5"/>
          <p:cNvSpPr/>
          <p:nvPr/>
        </p:nvSpPr>
        <p:spPr>
          <a:xfrm>
            <a:off x="7428548" y="3221712"/>
            <a:ext cx="6408064" cy="1687593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6"/>
          <p:cNvSpPr txBox="1"/>
          <p:nvPr/>
        </p:nvSpPr>
        <p:spPr>
          <a:xfrm>
            <a:off x="7655362" y="3448525"/>
            <a:ext cx="541110" cy="3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900"/>
              </a:lnSpc>
              <a:defRPr sz="23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defRPr>
            </a:lvl1pPr>
          </a:lstStyle>
          <a:p>
            <a:pPr/>
            <a:r>
              <a:t>2NF</a:t>
            </a:r>
          </a:p>
        </p:txBody>
      </p:sp>
      <p:sp>
        <p:nvSpPr>
          <p:cNvPr id="127" name="Text 7"/>
          <p:cNvSpPr txBox="1"/>
          <p:nvPr/>
        </p:nvSpPr>
        <p:spPr>
          <a:xfrm>
            <a:off x="7655362" y="3956684"/>
            <a:ext cx="5954436" cy="68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800"/>
              </a:lnSpc>
              <a:defRPr sz="170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Removes partial dependencies — all non-key attributes depend on the </a:t>
            </a:r>
            <a:r>
              <a:rPr b="1"/>
              <a:t>entire</a:t>
            </a:r>
            <a:r>
              <a:t> primary key.</a:t>
            </a:r>
          </a:p>
        </p:txBody>
      </p:sp>
      <p:sp>
        <p:nvSpPr>
          <p:cNvPr id="128" name="Shape 8"/>
          <p:cNvSpPr/>
          <p:nvPr/>
        </p:nvSpPr>
        <p:spPr>
          <a:xfrm>
            <a:off x="793790" y="5136117"/>
            <a:ext cx="6407945" cy="1687593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9"/>
          <p:cNvSpPr txBox="1"/>
          <p:nvPr/>
        </p:nvSpPr>
        <p:spPr>
          <a:xfrm>
            <a:off x="1020603" y="5362931"/>
            <a:ext cx="541110" cy="3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900"/>
              </a:lnSpc>
              <a:defRPr sz="23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defRPr>
            </a:lvl1pPr>
          </a:lstStyle>
          <a:p>
            <a:pPr/>
            <a:r>
              <a:t>3NF</a:t>
            </a:r>
          </a:p>
        </p:txBody>
      </p:sp>
      <p:sp>
        <p:nvSpPr>
          <p:cNvPr id="130" name="Text 10"/>
          <p:cNvSpPr txBox="1"/>
          <p:nvPr/>
        </p:nvSpPr>
        <p:spPr>
          <a:xfrm>
            <a:off x="1020603" y="5871090"/>
            <a:ext cx="5954317" cy="68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/>
            <a:r>
              <a:t>Removes transitive dependencies — non-key attributes depend only on the primary key.</a:t>
            </a:r>
          </a:p>
        </p:txBody>
      </p:sp>
      <p:sp>
        <p:nvSpPr>
          <p:cNvPr id="131" name="Shape 11"/>
          <p:cNvSpPr/>
          <p:nvPr/>
        </p:nvSpPr>
        <p:spPr>
          <a:xfrm>
            <a:off x="7428548" y="5136117"/>
            <a:ext cx="6408064" cy="1687593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Text 12"/>
          <p:cNvSpPr txBox="1"/>
          <p:nvPr/>
        </p:nvSpPr>
        <p:spPr>
          <a:xfrm>
            <a:off x="7655362" y="5362931"/>
            <a:ext cx="753174" cy="375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900"/>
              </a:lnSpc>
              <a:defRPr sz="23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defRPr>
            </a:lvl1pPr>
          </a:lstStyle>
          <a:p>
            <a:pPr/>
            <a:r>
              <a:t>BCNF</a:t>
            </a:r>
          </a:p>
        </p:txBody>
      </p:sp>
      <p:sp>
        <p:nvSpPr>
          <p:cNvPr id="133" name="Text 13"/>
          <p:cNvSpPr txBox="1"/>
          <p:nvPr/>
        </p:nvSpPr>
        <p:spPr>
          <a:xfrm>
            <a:off x="7655362" y="5871090"/>
            <a:ext cx="5954436" cy="3341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/>
            <a:r>
              <a:t>Stricter 3NF — every determinant must be a candidate key.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 txBox="1"/>
          <p:nvPr/>
        </p:nvSpPr>
        <p:spPr>
          <a:xfrm>
            <a:off x="719376" y="565904"/>
            <a:ext cx="5436845" cy="685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300"/>
              </a:lnSpc>
              <a:defRPr sz="420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defRPr>
            </a:lvl1pPr>
          </a:lstStyle>
          <a:p>
            <a:pPr/>
            <a:r>
              <a:t>Normalization Applied</a:t>
            </a:r>
          </a:p>
        </p:txBody>
      </p:sp>
      <p:sp>
        <p:nvSpPr>
          <p:cNvPr id="136" name="Text 1"/>
          <p:cNvSpPr txBox="1"/>
          <p:nvPr/>
        </p:nvSpPr>
        <p:spPr>
          <a:xfrm>
            <a:off x="719375" y="1705928"/>
            <a:ext cx="2234046" cy="33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10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defRPr>
            </a:lvl1pPr>
          </a:lstStyle>
          <a:p>
            <a:pPr/>
            <a:r>
              <a:t>Compliance Status</a:t>
            </a:r>
          </a:p>
        </p:txBody>
      </p:sp>
      <p:sp>
        <p:nvSpPr>
          <p:cNvPr id="137" name="Text 2"/>
          <p:cNvSpPr txBox="1"/>
          <p:nvPr/>
        </p:nvSpPr>
        <p:spPr>
          <a:xfrm>
            <a:off x="719376" y="2229325"/>
            <a:ext cx="6345079" cy="1509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400"/>
              </a:lnSpc>
              <a:buSzPct val="100000"/>
              <a:buChar char="•"/>
              <a:defRPr sz="160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All 7 tables satisfy </a:t>
            </a:r>
            <a:r>
              <a:rPr b="1"/>
              <a:t>1NF, 2NF, and BCNF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60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3NF Note:</a:t>
            </a:r>
            <a:r>
              <a:rPr b="0"/>
              <a:t> Payments table has a slight issue — </a:t>
            </a:r>
            <a:r>
              <a:rPr b="0">
                <a:latin typeface="Consolas"/>
                <a:ea typeface="Consolas"/>
                <a:cs typeface="Consolas"/>
                <a:sym typeface="Consolas"/>
              </a:rPr>
              <a:t>amount</a:t>
            </a:r>
            <a:r>
              <a:rPr b="0"/>
              <a:t> can be derived from ticket_price × ticket_count</a:t>
            </a:r>
          </a:p>
          <a:p>
            <a:pPr marL="342900" indent="-342900">
              <a:lnSpc>
                <a:spcPts val="2400"/>
              </a:lnSpc>
              <a:buSzPct val="100000"/>
              <a:buChar char="•"/>
              <a:defRPr b="1" sz="160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t>Solution:</a:t>
            </a:r>
            <a:r>
              <a:rPr b="0"/>
              <a:t> Treat </a:t>
            </a:r>
            <a:r>
              <a:rPr b="0">
                <a:latin typeface="Consolas"/>
                <a:ea typeface="Consolas"/>
                <a:cs typeface="Consolas"/>
                <a:sym typeface="Consolas"/>
              </a:rPr>
              <a:t>amount</a:t>
            </a:r>
            <a:r>
              <a:rPr b="0"/>
              <a:t> as a stored historical value, not a computed field</a:t>
            </a:r>
          </a:p>
        </p:txBody>
      </p:sp>
      <p:sp>
        <p:nvSpPr>
          <p:cNvPr id="138" name="Text 3"/>
          <p:cNvSpPr txBox="1"/>
          <p:nvPr/>
        </p:nvSpPr>
        <p:spPr>
          <a:xfrm>
            <a:off x="7573565" y="1705928"/>
            <a:ext cx="2695754" cy="33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2600"/>
              </a:lnSpc>
              <a:defRPr sz="210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defRPr>
            </a:pPr>
            <a:r>
              <a:t>Anomalies Resolved </a:t>
            </a:r>
            <a:r>
              <a:rPr>
                <a:solidFill>
                  <a:srgbClr val="000000"/>
                </a:solidFill>
              </a:rPr>
              <a:t>✔</a:t>
            </a:r>
          </a:p>
        </p:txBody>
      </p:sp>
      <p:sp>
        <p:nvSpPr>
          <p:cNvPr id="139" name="Shape 4"/>
          <p:cNvSpPr/>
          <p:nvPr/>
        </p:nvSpPr>
        <p:spPr>
          <a:xfrm>
            <a:off x="7573565" y="2260282"/>
            <a:ext cx="6345080" cy="1607107"/>
          </a:xfrm>
          <a:prstGeom prst="roundRect">
            <a:avLst>
              <a:gd name="adj" fmla="val 6828"/>
            </a:avLst>
          </a:prstGeom>
          <a:solidFill>
            <a:srgbClr val="FFFFFF"/>
          </a:solidFill>
          <a:ln w="22860">
            <a:solidFill>
              <a:srgbClr val="D8D4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Shape 5"/>
          <p:cNvSpPr/>
          <p:nvPr/>
        </p:nvSpPr>
        <p:spPr>
          <a:xfrm>
            <a:off x="7550705" y="2260282"/>
            <a:ext cx="91441" cy="1607107"/>
          </a:xfrm>
          <a:prstGeom prst="roundRect">
            <a:avLst>
              <a:gd name="adj" fmla="val 33721"/>
            </a:avLst>
          </a:prstGeom>
          <a:solidFill>
            <a:srgbClr val="E04F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6"/>
          <p:cNvSpPr txBox="1"/>
          <p:nvPr/>
        </p:nvSpPr>
        <p:spPr>
          <a:xfrm>
            <a:off x="7870507" y="2488644"/>
            <a:ext cx="1102171" cy="33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1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defRPr>
            </a:lvl1pPr>
          </a:lstStyle>
          <a:p>
            <a:pPr/>
            <a:r>
              <a:t>Insertion</a:t>
            </a:r>
          </a:p>
        </p:txBody>
      </p:sp>
      <p:sp>
        <p:nvSpPr>
          <p:cNvPr id="142" name="Text 7"/>
          <p:cNvSpPr txBox="1"/>
          <p:nvPr/>
        </p:nvSpPr>
        <p:spPr>
          <a:xfrm>
            <a:off x="7870507" y="3012043"/>
            <a:ext cx="5819776" cy="595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160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/>
            <a:r>
              <a:t>New events can be added without requiring a registration or payment record.</a:t>
            </a:r>
          </a:p>
        </p:txBody>
      </p:sp>
      <p:sp>
        <p:nvSpPr>
          <p:cNvPr id="143" name="Shape 8"/>
          <p:cNvSpPr/>
          <p:nvPr/>
        </p:nvSpPr>
        <p:spPr>
          <a:xfrm>
            <a:off x="7573565" y="4053602"/>
            <a:ext cx="6345080" cy="1607107"/>
          </a:xfrm>
          <a:prstGeom prst="roundRect">
            <a:avLst>
              <a:gd name="adj" fmla="val 6828"/>
            </a:avLst>
          </a:prstGeom>
          <a:solidFill>
            <a:srgbClr val="FFFFFF"/>
          </a:solidFill>
          <a:ln w="22860">
            <a:solidFill>
              <a:srgbClr val="D8D4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Shape 9"/>
          <p:cNvSpPr/>
          <p:nvPr/>
        </p:nvSpPr>
        <p:spPr>
          <a:xfrm>
            <a:off x="7550705" y="4053602"/>
            <a:ext cx="91441" cy="1607107"/>
          </a:xfrm>
          <a:prstGeom prst="roundRect">
            <a:avLst>
              <a:gd name="adj" fmla="val 33721"/>
            </a:avLst>
          </a:prstGeom>
          <a:solidFill>
            <a:srgbClr val="E04F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10"/>
          <p:cNvSpPr txBox="1"/>
          <p:nvPr/>
        </p:nvSpPr>
        <p:spPr>
          <a:xfrm>
            <a:off x="7870507" y="4281963"/>
            <a:ext cx="858674" cy="33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1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defRPr>
            </a:lvl1pPr>
          </a:lstStyle>
          <a:p>
            <a:pPr/>
            <a:r>
              <a:t>Update</a:t>
            </a:r>
          </a:p>
        </p:txBody>
      </p:sp>
      <p:sp>
        <p:nvSpPr>
          <p:cNvPr id="146" name="Text 11"/>
          <p:cNvSpPr txBox="1"/>
          <p:nvPr/>
        </p:nvSpPr>
        <p:spPr>
          <a:xfrm>
            <a:off x="7870507" y="4805362"/>
            <a:ext cx="5819776" cy="595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160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/>
            <a:r>
              <a:t>Changing a venue's city updates in one place only — no cascading duplicates.</a:t>
            </a:r>
          </a:p>
        </p:txBody>
      </p:sp>
      <p:sp>
        <p:nvSpPr>
          <p:cNvPr id="147" name="Shape 12"/>
          <p:cNvSpPr/>
          <p:nvPr/>
        </p:nvSpPr>
        <p:spPr>
          <a:xfrm>
            <a:off x="7573565" y="5846921"/>
            <a:ext cx="6345080" cy="1607106"/>
          </a:xfrm>
          <a:prstGeom prst="roundRect">
            <a:avLst>
              <a:gd name="adj" fmla="val 6828"/>
            </a:avLst>
          </a:prstGeom>
          <a:solidFill>
            <a:srgbClr val="FFFFFF"/>
          </a:solidFill>
          <a:ln w="22860">
            <a:solidFill>
              <a:srgbClr val="D8D4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Shape 13"/>
          <p:cNvSpPr/>
          <p:nvPr/>
        </p:nvSpPr>
        <p:spPr>
          <a:xfrm>
            <a:off x="7550705" y="5846921"/>
            <a:ext cx="91441" cy="1607106"/>
          </a:xfrm>
          <a:prstGeom prst="roundRect">
            <a:avLst>
              <a:gd name="adj" fmla="val 33721"/>
            </a:avLst>
          </a:prstGeom>
          <a:solidFill>
            <a:srgbClr val="E04F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 14"/>
          <p:cNvSpPr txBox="1"/>
          <p:nvPr/>
        </p:nvSpPr>
        <p:spPr>
          <a:xfrm>
            <a:off x="7870507" y="6075283"/>
            <a:ext cx="1035229" cy="33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600"/>
              </a:lnSpc>
              <a:defRPr sz="21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defRPr>
            </a:lvl1pPr>
          </a:lstStyle>
          <a:p>
            <a:pPr/>
            <a:r>
              <a:t>Deletion</a:t>
            </a:r>
          </a:p>
        </p:txBody>
      </p:sp>
      <p:sp>
        <p:nvSpPr>
          <p:cNvPr id="150" name="Text 15"/>
          <p:cNvSpPr txBox="1"/>
          <p:nvPr/>
        </p:nvSpPr>
        <p:spPr>
          <a:xfrm>
            <a:off x="7870507" y="6598681"/>
            <a:ext cx="5819776" cy="5953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sz="160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/>
            <a:r>
              <a:t>Deleting a payment does not remove the associated registration or event.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5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3347" y="608290"/>
            <a:ext cx="5259587" cy="7012900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Text 1"/>
          <p:cNvSpPr txBox="1"/>
          <p:nvPr/>
        </p:nvSpPr>
        <p:spPr>
          <a:xfrm>
            <a:off x="6280189" y="1227177"/>
            <a:ext cx="7131178" cy="750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5800"/>
              </a:lnSpc>
              <a:defRPr sz="460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defRPr>
            </a:lvl1pPr>
          </a:lstStyle>
          <a:p>
            <a:pPr/>
            <a:r>
              <a:t>Conclusion &amp; Future Scope</a:t>
            </a:r>
          </a:p>
        </p:txBody>
      </p:sp>
      <p:sp>
        <p:nvSpPr>
          <p:cNvPr id="155" name="Shape 2"/>
          <p:cNvSpPr/>
          <p:nvPr/>
        </p:nvSpPr>
        <p:spPr>
          <a:xfrm>
            <a:off x="6280189" y="2311598"/>
            <a:ext cx="3664746" cy="2776299"/>
          </a:xfrm>
          <a:prstGeom prst="roundRect">
            <a:avLst>
              <a:gd name="adj" fmla="val 1226"/>
            </a:avLst>
          </a:prstGeom>
          <a:solidFill>
            <a:srgbClr val="F2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3"/>
          <p:cNvSpPr txBox="1"/>
          <p:nvPr/>
        </p:nvSpPr>
        <p:spPr>
          <a:xfrm>
            <a:off x="6507004" y="2538413"/>
            <a:ext cx="2242592" cy="3752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900"/>
              </a:lnSpc>
              <a:defRPr sz="23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defRPr>
            </a:lvl1pPr>
          </a:lstStyle>
          <a:p>
            <a:pPr/>
            <a:r>
              <a:t>Project Summary</a:t>
            </a:r>
          </a:p>
        </p:txBody>
      </p:sp>
      <p:sp>
        <p:nvSpPr>
          <p:cNvPr id="157" name="Text 4"/>
          <p:cNvSpPr txBox="1"/>
          <p:nvPr/>
        </p:nvSpPr>
        <p:spPr>
          <a:xfrm>
            <a:off x="6507004" y="3046570"/>
            <a:ext cx="3211117" cy="1756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/>
            <a:r>
              <a:t>Successfully designed and implemented a 7-table relational database for a complete Event Management System using MySQL.</a:t>
            </a:r>
          </a:p>
        </p:txBody>
      </p:sp>
      <p:sp>
        <p:nvSpPr>
          <p:cNvPr id="158" name="Shape 5"/>
          <p:cNvSpPr/>
          <p:nvPr/>
        </p:nvSpPr>
        <p:spPr>
          <a:xfrm>
            <a:off x="10171748" y="2311598"/>
            <a:ext cx="3664864" cy="2776299"/>
          </a:xfrm>
          <a:prstGeom prst="roundRect">
            <a:avLst>
              <a:gd name="adj" fmla="val 1226"/>
            </a:avLst>
          </a:prstGeom>
          <a:solidFill>
            <a:srgbClr val="F2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6"/>
          <p:cNvSpPr txBox="1"/>
          <p:nvPr/>
        </p:nvSpPr>
        <p:spPr>
          <a:xfrm>
            <a:off x="10398562" y="2538413"/>
            <a:ext cx="2428076" cy="3752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900"/>
              </a:lnSpc>
              <a:defRPr sz="23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defRPr>
            </a:lvl1pPr>
          </a:lstStyle>
          <a:p>
            <a:pPr/>
            <a:r>
              <a:t>Learning Outcome</a:t>
            </a:r>
          </a:p>
        </p:txBody>
      </p:sp>
      <p:sp>
        <p:nvSpPr>
          <p:cNvPr id="160" name="Text 7"/>
          <p:cNvSpPr txBox="1"/>
          <p:nvPr/>
        </p:nvSpPr>
        <p:spPr>
          <a:xfrm>
            <a:off x="10398562" y="3046570"/>
            <a:ext cx="3211236" cy="1400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/>
            <a:r>
              <a:t>Gained hands-on experience in ER modeling, SQL DDL/DML, JOINs, aggregation, and normalization principles.</a:t>
            </a:r>
          </a:p>
        </p:txBody>
      </p:sp>
      <p:sp>
        <p:nvSpPr>
          <p:cNvPr id="161" name="Shape 8"/>
          <p:cNvSpPr/>
          <p:nvPr/>
        </p:nvSpPr>
        <p:spPr>
          <a:xfrm>
            <a:off x="6280189" y="5314712"/>
            <a:ext cx="7556422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9"/>
          <p:cNvSpPr txBox="1"/>
          <p:nvPr/>
        </p:nvSpPr>
        <p:spPr>
          <a:xfrm>
            <a:off x="6507004" y="5541526"/>
            <a:ext cx="2841689" cy="3752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ts val="2900"/>
              </a:lnSpc>
              <a:defRPr sz="23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defRPr>
            </a:lvl1pPr>
          </a:lstStyle>
          <a:p>
            <a:pPr/>
            <a:r>
              <a:t>Future Improvements</a:t>
            </a:r>
          </a:p>
        </p:txBody>
      </p:sp>
      <p:sp>
        <p:nvSpPr>
          <p:cNvPr id="163" name="Text 10"/>
          <p:cNvSpPr txBox="1"/>
          <p:nvPr/>
        </p:nvSpPr>
        <p:spPr>
          <a:xfrm>
            <a:off x="6507004" y="6049684"/>
            <a:ext cx="7102794" cy="689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1700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/>
            <a:r>
              <a:t>Add a front-end UI, integrate a live payment gateway, and build a real-time analytics dashboard.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